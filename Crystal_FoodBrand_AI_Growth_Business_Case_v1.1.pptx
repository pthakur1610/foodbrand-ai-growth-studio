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food-FMCG sales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2024 (today)</c:v>
                </c:pt>
                <c:pt idx="1">
                  <c:v>2030 (est.)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8D-4AC7-8AC6-2E7CECC956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2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&quot;$&quot;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Today</c:v>
                </c:pt>
                <c:pt idx="1">
                  <c:v>2030 (est.)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E6-4263-B9E7-68802BA6FD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D9E2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CD3-4FC4-A892-6C6A96298804}"/>
              </c:ext>
            </c:extLst>
          </c:dPt>
          <c:dPt>
            <c:idx val="1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CD3-4FC4-A892-6C6A96298804}"/>
              </c:ext>
            </c:extLst>
          </c:dPt>
          <c:dPt>
            <c:idx val="2"/>
            <c:bubble3D val="0"/>
            <c:spPr>
              <a:solidFill>
                <a:srgbClr val="E07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CD3-4FC4-A892-6C6A96298804}"/>
              </c:ext>
            </c:extLst>
          </c:dPt>
          <c:dPt>
            <c:idx val="3"/>
            <c:bubble3D val="0"/>
            <c:spPr>
              <a:solidFill>
                <a:srgbClr val="4C85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CD3-4FC4-A892-6C6A96298804}"/>
              </c:ext>
            </c:extLst>
          </c:dPt>
          <c:dPt>
            <c:idx val="4"/>
            <c:bubble3D val="0"/>
            <c:spPr>
              <a:solidFill>
                <a:srgbClr val="C98A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CD3-4FC4-A892-6C6A96298804}"/>
              </c:ext>
            </c:extLst>
          </c:dPt>
          <c:dPt>
            <c:idx val="5"/>
            <c:bubble3D val="0"/>
            <c:spPr>
              <a:solidFill>
                <a:srgbClr val="6E9C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CD3-4FC4-A892-6C6A96298804}"/>
              </c:ext>
            </c:extLst>
          </c:dPt>
          <c:dPt>
            <c:idx val="6"/>
            <c:bubble3D val="0"/>
            <c:spPr>
              <a:solidFill>
                <a:srgbClr val="A9C0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CD3-4FC4-A892-6C6A96298804}"/>
              </c:ext>
            </c:extLst>
          </c:dPt>
          <c:dPt>
            <c:idx val="7"/>
            <c:bubble3D val="0"/>
            <c:spPr>
              <a:solidFill>
                <a:srgbClr val="8A948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CD3-4FC4-A892-6C6A9629880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CD3-4FC4-A892-6C6A9629880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CD3-4FC4-A892-6C6A9629880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CD3-4FC4-A892-6C6A9629880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CD3-4FC4-A892-6C6A96298804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FCD3-4FC4-A892-6C6A96298804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FCD3-4FC4-A892-6C6A96298804}"/>
                </c:ext>
              </c:extLst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FCD3-4FC4-A892-6C6A96298804}"/>
                </c:ext>
              </c:extLst>
            </c:dLbl>
            <c:dLbl>
              <c:idx val="7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FCD3-4FC4-A892-6C6A9629880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Sheet1!$A$2:$A$9</c:f>
              <c:strCache>
                <c:ptCount val="8"/>
                <c:pt idx="0">
                  <c:v>Product / PM</c:v>
                </c:pt>
                <c:pt idx="1">
                  <c:v>Solution architect</c:v>
                </c:pt>
                <c:pt idx="2">
                  <c:v>AI/agent engineers</c:v>
                </c:pt>
                <c:pt idx="3">
                  <c:v>Full-stack / integration</c:v>
                </c:pt>
                <c:pt idx="4">
                  <c:v>UX + QA + DevOps</c:v>
                </c:pt>
                <c:pt idx="5">
                  <c:v>Cloud / models / tools</c:v>
                </c:pt>
                <c:pt idx="6">
                  <c:v>Security + compliance design</c:v>
                </c:pt>
                <c:pt idx="7">
                  <c:v>Contingency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12</c:v>
                </c:pt>
                <c:pt idx="2">
                  <c:v>24</c:v>
                </c:pt>
                <c:pt idx="3">
                  <c:v>15</c:v>
                </c:pt>
                <c:pt idx="4">
                  <c:v>8</c:v>
                </c:pt>
                <c:pt idx="5">
                  <c:v>6</c:v>
                </c:pt>
                <c:pt idx="6">
                  <c:v>4</c:v>
                </c:pt>
                <c:pt idx="7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CD3-4FC4-A892-6C6A96298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5B666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B4332"/>
                </a:solidFill>
                <a:latin typeface="Calibri"/>
              </a:rPr>
              <a:t>Year-1 revenue composition (₹ lakh)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lakh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433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Implementation</c:v>
                </c:pt>
                <c:pt idx="1">
                  <c:v>Platform/service</c:v>
                </c:pt>
                <c:pt idx="2">
                  <c:v>Campaign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</c:v>
                </c:pt>
                <c:pt idx="1">
                  <c:v>30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45-45DD-A018-ACE1E59075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2D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B4332"/>
                </a:solidFill>
                <a:latin typeface="Calibri"/>
              </a:rPr>
              <a:t>Revenue by stream (₹ lakh)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Implementation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175</c:v>
                </c:pt>
                <c:pt idx="2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55-4E71-BABA-184E28B9A3B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Recurring platform/service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210</c:v>
                </c:pt>
                <c:pt idx="2">
                  <c:v>480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55-4E71-BABA-184E28B9A3B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Campaign services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30</c:v>
                </c:pt>
                <c:pt idx="1">
                  <c:v>100</c:v>
                </c:pt>
                <c:pt idx="2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355-4E71-BABA-184E28B9A3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9E2DC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66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00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loitte.com/in/en/about/press-room/indias-food-processing-sector-enters-a-new-value-growth-era-unlocking-a-us-600-billion-opportunity-by-2030-deloitte-ficci-report.html" TargetMode="External"/><Relationship Id="rId7" Type="http://schemas.openxmlformats.org/officeDocument/2006/relationships/hyperlink" Target="https://www.business-standard.com/industry/news/raids-shutdowns-warning-labels-india-s-unprecedented-food-safety-push-126090800223_1.html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usiness-standard.com/technology/tech-news/global-firms-use-ai-at-indian-hubs-to-cut-ad-costs-bring-work-in-house-126052701702_1.html" TargetMode="External"/><Relationship Id="rId5" Type="http://schemas.openxmlformats.org/officeDocument/2006/relationships/hyperlink" Target="https://redseer.com/reports/reinventing-packaged-fb-with-quick-commerce/" TargetMode="External"/><Relationship Id="rId4" Type="http://schemas.openxmlformats.org/officeDocument/2006/relationships/hyperlink" Target="https://redseer.com/articles/how-indias-fastest-growing-channel-is-rewriting-packaged-fb-strateg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2D6A4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731520"/>
            <a:ext cx="3657600" cy="3657600"/>
          </a:xfrm>
          <a:prstGeom prst="ellipse">
            <a:avLst/>
          </a:prstGeom>
          <a:solidFill>
            <a:srgbClr val="E07A5F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FOODBRAND AI GROWTH STUDIO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agentic AI growth platform for India's food &amp; FMCG brands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product design for Crystal Technology Services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70332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86791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$600B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720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food-processing opportunity by 2030 (Deloitte–FICCI)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370332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11880" y="386791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4% → 18%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45720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share of food-FMCG sales, today vs 2030 (Redseer)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386791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$100B+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5720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packaged-food industry today (Reuters)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61120" y="3703320"/>
            <a:ext cx="2542032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3867912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24d → 2h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4572000"/>
            <a:ext cx="2267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content-cycle compression reported by Kimberly-Clark India (Reuters)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September 2026  |  Sources verified &amp; linked on closing slide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3334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food-processing sector is projected to unlock a nearly $600B opportunity by 2030, per a Deloitte–FICCI report (Jul 2026) — driven by premiumisation, digital adoption and value-added products.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715768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45516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is reshaping distribution: Redseer estimates it carries ~4% of food-FMCG sales today, rising to ~18% by 2030 — growing ~9x faster than every other channel combined.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3858768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350672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packaged-food industry (&gt;$100B today) is under intensifying regulatory and label scrutiny, per Reuters reporting on proposed front-of-pack warning labels (Sept 2026).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5001768"/>
            <a:ext cx="100584" cy="100584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4628544"/>
            <a:ext cx="5989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 reported Kimberly-Clark's India-built AI platform cut a content-creation cycle from 24 days to about two hours — a live proof point for agentic marketing ops.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5806440"/>
            <a:ext cx="6400800" cy="502920"/>
          </a:xfrm>
          <a:prstGeom prst="roundRect">
            <a:avLst>
              <a:gd name="adj" fmla="val 10909"/>
            </a:avLst>
          </a:prstGeom>
          <a:solidFill>
            <a:srgbClr val="E8F0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" y="58521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implication: faster content + localization + commerce activation + governance, bundled as one platform.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4173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share of food-FMCG sales</a:t>
            </a:r>
            <a:endParaRPr lang="en-US" sz="12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995160" y="1737360"/>
          <a:ext cx="47091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7086600" y="41148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Redseer Strategy Consultants, 2026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4480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food &amp; beverage market ($B)</a:t>
            </a:r>
            <a:endParaRPr lang="en-US" sz="1200" dirty="0"/>
          </a:p>
        </p:txBody>
      </p:sp>
      <p:graphicFrame>
        <p:nvGraphicFramePr>
          <p:cNvPr id="18" name="Chart 1"/>
          <p:cNvGraphicFramePr/>
          <p:nvPr/>
        </p:nvGraphicFramePr>
        <p:xfrm>
          <a:off x="6995160" y="4800600"/>
          <a:ext cx="470916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7086600" y="626364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Redseer, “Reinventing Packaged F&amp;B with Quick Commerce,” 2026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SIZING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TAM, SAM &amp; Crystal's realistic beachhead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2468880"/>
            <a:ext cx="3383280" cy="33832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11480" y="341619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372709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$600B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867912" y="4023360"/>
            <a:ext cx="22860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8" name="Shape 6"/>
          <p:cNvSpPr/>
          <p:nvPr/>
        </p:nvSpPr>
        <p:spPr>
          <a:xfrm>
            <a:off x="3246120" y="2971800"/>
            <a:ext cx="2377440" cy="23774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46120" y="3637483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948379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~$150B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696712" y="4023360"/>
            <a:ext cx="22860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2" name="Shape 10"/>
          <p:cNvSpPr/>
          <p:nvPr/>
        </p:nvSpPr>
        <p:spPr>
          <a:xfrm>
            <a:off x="5212080" y="3383280"/>
            <a:ext cx="1554480" cy="1554480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12080" y="381853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412943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₹9.8Cr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452360" y="1234440"/>
            <a:ext cx="4251960" cy="1572768"/>
          </a:xfrm>
          <a:prstGeom prst="roundRect">
            <a:avLst>
              <a:gd name="adj" fmla="val 4070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35240" y="13441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1655064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food-processing sector, all segments, all channels — the Deloitte–FICCI $600B figure.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452360" y="2971800"/>
            <a:ext cx="4251960" cy="1572768"/>
          </a:xfrm>
          <a:prstGeom prst="roundRect">
            <a:avLst>
              <a:gd name="adj" fmla="val 4070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35240" y="308152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available market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635240" y="3392424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F&amp;B brands investing in digital growth, quick-commerce activation and campaign infrastructure — Redseer's ~$150B 2030 packaged F&amp;B estimate.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4709160"/>
            <a:ext cx="4251960" cy="1572768"/>
          </a:xfrm>
          <a:prstGeom prst="roundRect">
            <a:avLst>
              <a:gd name="adj" fmla="val 4070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635240" y="481888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obtainable market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35240" y="5129784"/>
            <a:ext cx="3886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Crystal's realistic 3-year capture with a lean MVP, 2–3 design partners and a beachhead of ₹50–500Cr food brands: ~12 active customers, ~₹9.8Cr revenue by Year 3 (Slide 10).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this case, using Deloitte–FICCI and Redseer market data as inputs. TAM/SAM/SOM figures are modeled estimates, not third-party forecasts of Crystal's revenue.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proposition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FoodBrand AI Growth Studio — a platform + managed service for food/FMCG growth.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28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 consumer data into campaigns, campaigns into commerce, and commerce data into the next product decision.”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00784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9" name="Shape 7"/>
          <p:cNvSpPr/>
          <p:nvPr/>
        </p:nvSpPr>
        <p:spPr>
          <a:xfrm>
            <a:off x="1883664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883664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27248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310128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53712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5" name="Shape 13"/>
          <p:cNvSpPr/>
          <p:nvPr/>
        </p:nvSpPr>
        <p:spPr>
          <a:xfrm>
            <a:off x="4736592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2D6A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36592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Regionali-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0176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63056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63056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0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2D6A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89520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833104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4" name="Shape 22"/>
          <p:cNvSpPr/>
          <p:nvPr/>
        </p:nvSpPr>
        <p:spPr>
          <a:xfrm>
            <a:off x="9015984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015984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259568" y="3218688"/>
            <a:ext cx="201168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42448" y="2743200"/>
            <a:ext cx="1261872" cy="1234440"/>
          </a:xfrm>
          <a:prstGeom prst="roundRect">
            <a:avLst>
              <a:gd name="adj" fmla="val 5926"/>
            </a:avLst>
          </a:prstGeom>
          <a:solidFill>
            <a:srgbClr val="2D6A4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442448" y="2834640"/>
            <a:ext cx="1261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754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execution with brand, product-claim and compliance guardrails built into every step — not bolted on afterward.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263640" y="44348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E8F0E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46520" y="45537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wins in food/FMCG specifically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486460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claims are legally sensitive (FSSAI scrutiny is intensifying) — governance can't be optional.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Regionalization matters more here than most categories — India spans dozens of languages and taste profiles.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compresses launch cycles — speed from data to shelf is now a competitive metric.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— FOR CRYSTAL TO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architecture: five layers, with governance running horizontally across every layer rather than sitting at the end of the pipeline.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914400" y="1965960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048256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&amp; Analytics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350008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connectors (quick commerce, e-commerce, social, retail media) · KPI dashboard · next-best-action engine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2962656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044952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346704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Copilot (brief → strategy → copy/creative/scripts) · Regionalization agents · workflow memory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3959352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4C85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43000" y="404164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343400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Intelligence: reviews, social listening, sales &amp; campaign history, retrieval over Brand Brain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4956048"/>
            <a:ext cx="7406640" cy="868680"/>
          </a:xfrm>
          <a:prstGeom prst="roundRect">
            <a:avLst>
              <a:gd name="adj" fmla="val 7368"/>
            </a:avLst>
          </a:prstGeom>
          <a:solidFill>
            <a:srgbClr val="6E9C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5038344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Integration Layer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340096"/>
            <a:ext cx="6949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Brain: brand rules, SKU/product facts · API-light connectors · secure data ingestion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41080" y="1965960"/>
            <a:ext cx="2606040" cy="3858768"/>
          </a:xfrm>
          <a:prstGeom prst="roundRect">
            <a:avLst>
              <a:gd name="adj" fmla="val 2456"/>
            </a:avLst>
          </a:prstGeom>
          <a:solidFill>
            <a:srgbClr val="E07A5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778240" y="2103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(cross-cutting)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2788920"/>
            <a:ext cx="2240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validation against product facts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workflow before publish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per asset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data minimization, retention policy</a:t>
            </a:r>
            <a:endParaRPr lang="en-US" sz="10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routing, caching &amp; token budgets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every agent call in the Orchestration layer routes through the Governance layer before any consumer-facing asset is published — this is the guardrail differentiator from Slide 4.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 — FOR CRYSTAL TO BUILD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campaign workflow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user-facing flow a brand marketer moves through inside FoodBrand AI Growth Studio — human-in-the-loop at every consumer-facing decision.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213055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1792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intake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679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or brand owner submits a campaign brief: SKU, market, objective, budget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63824" y="279349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1" name="Shape 9"/>
          <p:cNvSpPr/>
          <p:nvPr/>
        </p:nvSpPr>
        <p:spPr>
          <a:xfrm>
            <a:off x="3319272" y="19659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83864" y="213055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83864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959352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pull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483864" y="2679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pulls consumer intelligence: reviews, social sentiment, prior campaign performance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25896" y="279349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1344" y="19659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45936" y="213055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45936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draft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345936" y="2679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Copilot proposes positioning, channel mix and creative direction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887968" y="279349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3" name="Shape 21"/>
          <p:cNvSpPr/>
          <p:nvPr/>
        </p:nvSpPr>
        <p:spPr>
          <a:xfrm>
            <a:off x="9043416" y="196596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8008" y="213055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08008" y="21305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83496" y="21488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+ regional variants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08008" y="267919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Copy/scripts/creative prompts generated, then localized per market/language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0690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" y="423367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21792" y="478231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claim validation against Brand Brain; flags anything unsupported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63824" y="489661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34" name="Shape 32"/>
          <p:cNvSpPr/>
          <p:nvPr/>
        </p:nvSpPr>
        <p:spPr>
          <a:xfrm>
            <a:off x="3319272" y="40690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83864" y="423367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83864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3959352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483864" y="478231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 reviews, edits and signs off — nothing publishes without this step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25896" y="489661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40" name="Shape 38"/>
          <p:cNvSpPr/>
          <p:nvPr/>
        </p:nvSpPr>
        <p:spPr>
          <a:xfrm>
            <a:off x="6181344" y="40690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45936" y="423367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345936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821424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&amp; measure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6345936" y="478231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connected channels; KPI dashboard tracks cycle time, engagement, ROAS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887968" y="4896612"/>
            <a:ext cx="146304" cy="219456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46" name="Shape 44"/>
          <p:cNvSpPr/>
          <p:nvPr/>
        </p:nvSpPr>
        <p:spPr>
          <a:xfrm>
            <a:off x="9043416" y="4069080"/>
            <a:ext cx="2697480" cy="1874520"/>
          </a:xfrm>
          <a:prstGeom prst="roundRect">
            <a:avLst>
              <a:gd name="adj" fmla="val 3902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08008" y="4233672"/>
            <a:ext cx="384048" cy="384048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20800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9683496" y="42519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Next-best-action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9208008" y="4782312"/>
            <a:ext cx="23682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data feeds back into Brand Brain to inform the next brief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scope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0698480" cy="43891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Brain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rules, SKU/product facts, campaign history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Reviews, social comments, campaign and sales inputs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Copilot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 → strategy → copy/scripts/creative prompts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 validation, approval workflow, audit trail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07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and language-specific variants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channel connectors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dashboard and next-best-action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= required for pilot launch. P1 = fast-follow within the first two live customers.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cost — lean 6-month MVP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766560" cy="40233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Planning assumption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lakh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FTE blended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AI/agent engineers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Full-stack / 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+ QA + DevOps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/ models /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+ compliance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4173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breakdown by component (₹ lakh)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0" y="1737360"/>
          <a:ext cx="448056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486400"/>
            <a:ext cx="676656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40080" y="557784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of spend is engineering (AI/agent + full-stack + architecture) — consistent with an agentic system where orchestration logic, not UI, is the hard part.</a:t>
            </a:r>
            <a:endParaRPr lang="en-US" sz="1000" dirty="0"/>
          </a:p>
        </p:txBody>
      </p:sp>
      <p:sp>
        <p:nvSpPr>
          <p:cNvPr id="4" name="Text 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options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0" y="1691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07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3192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 MVP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₹70–90L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months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pilot brands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priority integrations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components 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08760"/>
            <a:ext cx="5394960" cy="3200400"/>
          </a:xfrm>
          <a:prstGeom prst="roundRect">
            <a:avLst>
              <a:gd name="adj" fmla="val 2571"/>
            </a:avLst>
          </a:prstGeom>
          <a:solidFill>
            <a:srgbClr val="F7F5EF"/>
          </a:solidFill>
          <a:ln w="12700">
            <a:solidFill>
              <a:srgbClr val="D9E2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828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Enterprise-ready V1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3317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₹1.4–2.0Cr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months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2940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Multi-brand architecture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integrations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governance depth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internal planning assumptions, not vendor quotations.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Per-client implementation economics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869680" cy="43891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effort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+ data assessment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₹4–6L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Brain setup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₹3–5L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Agent/workflow 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₹5–8L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API/channel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₹4–8L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+ security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₹2–4L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+ launch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₹1–2L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implementation 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₹19–33L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555480" y="1554480"/>
            <a:ext cx="2148840" cy="4206240"/>
          </a:xfrm>
          <a:prstGeom prst="roundRect">
            <a:avLst>
              <a:gd name="adj" fmla="val 3404"/>
            </a:avLst>
          </a:prstGeom>
          <a:solidFill>
            <a:srgbClr val="E8F0E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92640" y="17373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pilot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92640" y="228600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15–26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92640" y="3200400"/>
            <a:ext cx="1874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 discovery to launch, run in parallel workstreams where possible.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revenue model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9235440" cy="28346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fee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recurring fee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₹5–10L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₹20–30L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₹24–36L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₹35–60L+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₹48–72L+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services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₹5–25L+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required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0916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logic: Pilot proves value with no recurring commitment. Growth and Enterprise convert successful pilots into annual subscriptions — setup fee funds delivery, recurring fee funds the platform business.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Growth customer — Year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8F0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₹25L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54680" y="173736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8F0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5468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₹30L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platform/service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1737360"/>
            <a:ext cx="2468880" cy="1737360"/>
          </a:xfrm>
          <a:prstGeom prst="roundRect">
            <a:avLst>
              <a:gd name="adj" fmla="val 4737"/>
            </a:avLst>
          </a:prstGeom>
          <a:solidFill>
            <a:srgbClr val="E8F0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52160" y="19659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₹10L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697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366760" y="2377440"/>
            <a:ext cx="457200" cy="457200"/>
          </a:xfrm>
          <a:prstGeom prst="rightArrow">
            <a:avLst/>
          </a:prstGeom>
          <a:solidFill>
            <a:srgbClr val="E07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8915400" y="1737360"/>
            <a:ext cx="1737360" cy="1737360"/>
          </a:xfrm>
          <a:prstGeom prst="roundRect">
            <a:avLst>
              <a:gd name="adj" fmla="val 4737"/>
            </a:avLst>
          </a:prstGeom>
          <a:solidFill>
            <a:srgbClr val="E07A5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1540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₹65L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2697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48640" y="3840480"/>
          <a:ext cx="105156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Crystal revenue scenario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17320"/>
          <a:ext cx="4251960" cy="3968496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customers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Avg. active recurring customers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₹75L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₹1.75Cr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₹3.0Cr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 platform/service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₹2.1Cr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₹4.8Cr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₹1.0Cr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₹2.0Cr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₹1.65Cr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₹4.85Cr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₹9.8Cr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7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7" name="Text 3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payback — scenario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766560" cy="868680"/>
          </a:xfrm>
          <a:prstGeom prst="roundRect">
            <a:avLst>
              <a:gd name="adj" fmla="val 7368"/>
            </a:avLst>
          </a:prstGeom>
          <a:solidFill>
            <a:srgbClr val="F7F5E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00200"/>
            <a:ext cx="109728" cy="868680"/>
          </a:xfrm>
          <a:prstGeom prst="roundRect">
            <a:avLst/>
          </a:prstGeom>
          <a:solidFill>
            <a:srgbClr val="1B433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investment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1691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~₹86L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6766560" cy="868680"/>
          </a:xfrm>
          <a:prstGeom prst="roundRect">
            <a:avLst>
              <a:gd name="adj" fmla="val 7368"/>
            </a:avLst>
          </a:prstGeom>
          <a:solidFill>
            <a:srgbClr val="F7F5E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651760"/>
            <a:ext cx="109728" cy="868680"/>
          </a:xfrm>
          <a:prstGeom prst="round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7432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gross revenue (3 customers, ~₹55L avg.)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7432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2D6A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~₹1.65Cr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6766560" cy="868680"/>
          </a:xfrm>
          <a:prstGeom prst="roundRect">
            <a:avLst>
              <a:gd name="adj" fmla="val 7368"/>
            </a:avLst>
          </a:prstGeom>
          <a:solidFill>
            <a:srgbClr val="F7F5E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703320"/>
            <a:ext cx="109728" cy="868680"/>
          </a:xfrm>
          <a:prstGeom prst="round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79476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contribution at ~55% margin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794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07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~₹91L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4800600"/>
            <a:ext cx="6766560" cy="1051560"/>
          </a:xfrm>
          <a:prstGeom prst="roundRect">
            <a:avLst>
              <a:gd name="adj" fmla="val 6957"/>
            </a:avLst>
          </a:prstGeom>
          <a:solidFill>
            <a:srgbClr val="1B433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93776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MVP is close to cash payback within Year 1 if the sales conversion occurs as assumed.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543800" y="1600200"/>
            <a:ext cx="4160520" cy="4251960"/>
          </a:xfrm>
          <a:prstGeom prst="roundRect">
            <a:avLst>
              <a:gd name="adj" fmla="val 1758"/>
            </a:avLst>
          </a:prstGeom>
          <a:solidFill>
            <a:srgbClr val="E8F0EA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gating condition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21488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paid pilots or design partners before building the full platform.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27889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Sensitivity: at 2 customers instead of 3, Year-1 contribution falls to ~₹61L — payback slips to early Year 2.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4+ customers, payback could occur inside 9–10 months.
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pilot conversion rate, not build cost, the dominant risk variable.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onboard the first food giant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49047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 6 - 8week campaign pilot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49047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entire platform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04088" y="2011680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267712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267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2494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measurable problem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249424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new-SKU launch, regional campaign, quick-commerce optimization or review intelligence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4088" y="2770632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026664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026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30083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only the data needed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300837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specific use case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04088" y="3529584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85616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785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7673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before publishing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376732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consumer-facing claims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04088" y="4288536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4544568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4544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matters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852160" y="452628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time, creative throughput, engagement, conversion and ROAS/CAC where available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04088" y="5047488"/>
            <a:ext cx="0" cy="256032"/>
          </a:xfrm>
          <a:prstGeom prst="line">
            <a:avLst/>
          </a:prstGeom>
          <a:noFill/>
          <a:ln w="19050">
            <a:solidFill>
              <a:srgbClr val="D9E2DC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57200" y="5303520"/>
            <a:ext cx="502920" cy="50292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528523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pilot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852160" y="52852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an annual Growth or Enterprise subscription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customer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E8F0E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ambitious food companies, ₹50Cr–500Cr scale, multiple SKUs, active D2C/e-commerce/quick-commerce presence.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35040" y="14630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E8F0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1792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categories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18745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snacks, makhana, protein foods, beverages, ready-to-eat, spices, regional foods, premium/D2C.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063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targets (after 2–3 case studies)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Foods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33472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33472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Consumer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9744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9744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Britannia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86016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86016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Dabur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62288" y="3401568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62288" y="3401568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Marico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33472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33472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9744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09744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Mother Dairy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986016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986016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162288" y="4014216"/>
            <a:ext cx="2084832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62288" y="4014216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Adani Wilmar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personas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642616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734056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Head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28032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919472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Insights Lead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013448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104888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/ Q-commerce Head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198864" y="50749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433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90304" y="50749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/ CIO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43" name="Text 41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90-day go-to-market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1–30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clickable MVP, ROI calculator and demo. Draft pilot SOW and governance design.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95928" y="2606040"/>
            <a:ext cx="283464" cy="36576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8" name="Shape 6"/>
          <p:cNvSpPr/>
          <p:nvPr/>
        </p:nvSpPr>
        <p:spPr>
          <a:xfrm>
            <a:off x="4297680" y="16002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31–60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2860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20 accounts → 8 discovery meetings → 3 paid pilots.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36408" y="2606040"/>
            <a:ext cx="283464" cy="36576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160020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E07A5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0" y="1783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61–90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28600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1–2 pilots to annual contracts. Publish the first case study.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709160"/>
            <a:ext cx="1810512" cy="86868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0352" y="470916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cycle-time reduction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59152" y="4709160"/>
            <a:ext cx="1810512" cy="86868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432304" y="470916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asset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61104" y="4709160"/>
            <a:ext cx="1810512" cy="86868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34256" y="470916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throughput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63056" y="4709160"/>
            <a:ext cx="1810512" cy="86868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6208" y="470916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5008" y="4709160"/>
            <a:ext cx="1810512" cy="86868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38160" y="470916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66960" y="4709160"/>
            <a:ext cx="1810512" cy="868680"/>
          </a:xfrm>
          <a:prstGeom prst="roundRect">
            <a:avLst>
              <a:gd name="adj" fmla="val 6316"/>
            </a:avLst>
          </a:prstGeom>
          <a:solidFill>
            <a:srgbClr val="F7F5E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040112" y="4709160"/>
            <a:ext cx="166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exceptions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controls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544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food/health claims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42432" y="18105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15544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09360" y="15544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Product-fact grounding + claim validation + human approval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688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Data/privacy risk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742432" y="27249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2" name="Shape 10"/>
          <p:cNvSpPr/>
          <p:nvPr/>
        </p:nvSpPr>
        <p:spPr>
          <a:xfrm>
            <a:off x="6126480" y="24688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09360" y="24688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minimization, RBAC, secure connectors and retention policies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3832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Cloud/model cost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42432" y="36393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33832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33832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routing, caching, token budgets and usage monitoring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976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42976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742432" y="45537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26480" y="42976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42976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workflow and keep humans in the loop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212080"/>
            <a:ext cx="5212080" cy="777240"/>
          </a:xfrm>
          <a:prstGeom prst="roundRect">
            <a:avLst>
              <a:gd name="adj" fmla="val 8235"/>
            </a:avLst>
          </a:prstGeom>
          <a:solidFill>
            <a:srgbClr val="FBEE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52120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B34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complexity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42432" y="5468112"/>
            <a:ext cx="320040" cy="274320"/>
          </a:xfrm>
          <a:prstGeom prst="rightArrow">
            <a:avLst/>
          </a:prstGeom>
          <a:solidFill>
            <a:srgbClr val="8A948E"/>
          </a:solidFill>
          <a:ln/>
        </p:spPr>
      </p:sp>
      <p:sp>
        <p:nvSpPr>
          <p:cNvPr id="27" name="Shape 25"/>
          <p:cNvSpPr/>
          <p:nvPr/>
        </p:nvSpPr>
        <p:spPr>
          <a:xfrm>
            <a:off x="6126480" y="5212080"/>
            <a:ext cx="5577840" cy="777240"/>
          </a:xfrm>
          <a:prstGeom prst="roundRect">
            <a:avLst>
              <a:gd name="adj" fmla="val 8235"/>
            </a:avLst>
          </a:prstGeom>
          <a:solidFill>
            <a:srgbClr val="E8F0EA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09360" y="521208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exports/API-light connectors; productize repeat integrations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347098" y="994642"/>
            <a:ext cx="8162419" cy="1897847"/>
          </a:xfrm>
          <a:prstGeom prst="roundRect">
            <a:avLst>
              <a:gd name="adj" fmla="val 4737"/>
            </a:avLst>
          </a:prstGeom>
          <a:solidFill>
            <a:srgbClr val="B3492B"/>
          </a:solidFill>
          <a:ln/>
        </p:spPr>
      </p:sp>
      <p:sp>
        <p:nvSpPr>
          <p:cNvPr id="2" name="Text 0"/>
          <p:cNvSpPr txBox="1"/>
          <p:nvPr/>
        </p:nvSpPr>
        <p:spPr>
          <a:xfrm>
            <a:off x="45720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MVP envelope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1051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₹70–90L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819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pilot target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394960" y="158191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₹5–10L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122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Growth customer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11226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₹20–30L impl. + ₹24–36L ARR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&amp; data notes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India &amp; FICCI — “STEP UP” report (Jul 2026)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922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food-processing sector projected as a nearly $600B opportunity by 2030.</a:t>
            </a:r>
            <a:endParaRPr lang="en-US" sz="1000" dirty="0"/>
          </a:p>
        </p:txBody>
      </p:sp>
      <p:sp>
        <p:nvSpPr>
          <p:cNvPr id="7" name="Text 5">
            <a:hlinkClick r:id="rId3"/>
          </p:cNvPr>
          <p:cNvSpPr txBox="1"/>
          <p:nvPr/>
        </p:nvSpPr>
        <p:spPr>
          <a:xfrm>
            <a:off x="640080" y="20299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https://www.deloitte.com/in/en/about/press-room/indias-food-processing-sector-enters-a-new-value-growth-era-unlocking-a-us-600-billion-opportunity-by-2030-deloitte-ficci-report.html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4780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Redseer Strategy Consultants (2026)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7340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~4% of food-FMCG sales today, rising to ~18% by 2030.</a:t>
            </a:r>
            <a:endParaRPr lang="en-US" sz="1000" dirty="0"/>
          </a:p>
        </p:txBody>
      </p:sp>
      <p:sp>
        <p:nvSpPr>
          <p:cNvPr id="11" name="Text 9">
            <a:hlinkClick r:id="rId4"/>
          </p:cNvPr>
          <p:cNvSpPr txBox="1"/>
          <p:nvPr/>
        </p:nvSpPr>
        <p:spPr>
          <a:xfrm>
            <a:off x="640080" y="29718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https://redseer.com/articles/how-indias-fastest-growing-channel-is-rewriting-packaged-fb-strategy/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46704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419856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Redseer — “Reinventing Packaged F&amp;B with Quick Commerce” (Mar 2026)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6758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packaged F&amp;B market: ~$100B today, growing to $150B+ by 2030.</a:t>
            </a:r>
            <a:endParaRPr lang="en-US" sz="1000" dirty="0"/>
          </a:p>
        </p:txBody>
      </p:sp>
      <p:sp>
        <p:nvSpPr>
          <p:cNvPr id="15" name="Text 13">
            <a:hlinkClick r:id="rId5"/>
          </p:cNvPr>
          <p:cNvSpPr txBox="1"/>
          <p:nvPr/>
        </p:nvSpPr>
        <p:spPr>
          <a:xfrm>
            <a:off x="640080" y="391363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https://redseer.com/reports/reinventing-packaged-fb-with-quick-commerce/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288536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361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Reuters, via Business Standard (May 2026)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17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Kimberly-Clark: AI platform cut content creation from 24 days to two hours.</a:t>
            </a:r>
            <a:endParaRPr lang="en-US" sz="1000" dirty="0"/>
          </a:p>
        </p:txBody>
      </p:sp>
      <p:sp>
        <p:nvSpPr>
          <p:cNvPr id="19" name="Text 17">
            <a:hlinkClick r:id="rId6"/>
          </p:cNvPr>
          <p:cNvSpPr txBox="1"/>
          <p:nvPr/>
        </p:nvSpPr>
        <p:spPr>
          <a:xfrm>
            <a:off x="640080" y="485546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https://www.business-standard.com/technology/tech-news/global-firms-use-ai-at-indian-hubs-to-cut-ad-costs-bring-work-in-house-126052701702_1.html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5230368"/>
            <a:ext cx="11247120" cy="841248"/>
          </a:xfrm>
          <a:prstGeom prst="roundRect">
            <a:avLst>
              <a:gd name="adj" fmla="val 6522"/>
            </a:avLst>
          </a:prstGeom>
          <a:solidFill>
            <a:srgbClr val="F7F5EF"/>
          </a:solidFill>
          <a:ln w="6350">
            <a:solidFill>
              <a:srgbClr val="D9E2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303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Reuters, via Business Standard (Sept 2026)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5595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&gt;$100B packaged-food industry facing front-of-pack warning label proposals.</a:t>
            </a:r>
            <a:endParaRPr lang="en-US" sz="1000" dirty="0"/>
          </a:p>
        </p:txBody>
      </p:sp>
      <p:sp>
        <p:nvSpPr>
          <p:cNvPr id="23" name="Text 21">
            <a:hlinkClick r:id="rId7"/>
          </p:cNvPr>
          <p:cNvSpPr txBox="1"/>
          <p:nvPr/>
        </p:nvSpPr>
        <p:spPr>
          <a:xfrm>
            <a:off x="640080" y="57972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u="sng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https://www.business-standard.com/industry/news/raids-shutdowns-warning-labels-india-s-unprecedented-food-safety-push-126090800223_1.html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development, implementation, pricing and revenue figures are proposed planning assumptions — not vendor quotations or audited forecasts.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business case  |  ₹ INR  |  Validate assumptions against Crystal's loaded costs and client pricing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368735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A94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2414</Words>
  <Application>Microsoft Office PowerPoint</Application>
  <PresentationFormat>Widescreen</PresentationFormat>
  <Paragraphs>459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Preety Thakur</cp:lastModifiedBy>
  <cp:revision>2</cp:revision>
  <dcterms:created xsi:type="dcterms:W3CDTF">2026-09-10T07:59:22Z</dcterms:created>
  <dcterms:modified xsi:type="dcterms:W3CDTF">2026-09-10T08:22:31Z</dcterms:modified>
</cp:coreProperties>
</file>